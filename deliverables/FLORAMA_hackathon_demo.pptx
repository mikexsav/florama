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4eecbaa655498f" /><Relationship Type="http://schemas.openxmlformats.org/officeDocument/2006/relationships/extended-properties" Target="/docProps/app.xml" Id="R0fbf61fa327f46d9" /><Relationship Type="http://schemas.openxmlformats.org/officeDocument/2006/relationships/officeDocument" Target="/ppt/presentation.xml" Id="Reb9f8089db584f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a6e01ecce4728"/>
  </p:sldMasterIdLst>
  <p:notesMasterIdLst>
    <p:notesMasterId xmlns:r="http://schemas.openxmlformats.org/officeDocument/2006/relationships" r:id="R2fb74a2e25154b1e"/>
  </p:notesMasterIdLst>
  <p:sldIdLst>
    <p:sldId xmlns:r="http://schemas.openxmlformats.org/officeDocument/2006/relationships" id="256" r:id="Rd4fde6f1715043d7"/>
    <p:sldId xmlns:r="http://schemas.openxmlformats.org/officeDocument/2006/relationships" id="257" r:id="Rf7f8ed418ead4974"/>
    <p:sldId xmlns:r="http://schemas.openxmlformats.org/officeDocument/2006/relationships" id="258" r:id="Rd7a3b6d4146542b4"/>
    <p:sldId xmlns:r="http://schemas.openxmlformats.org/officeDocument/2006/relationships" id="259" r:id="Rb1564b72ecf04e72"/>
    <p:sldId xmlns:r="http://schemas.openxmlformats.org/officeDocument/2006/relationships" id="260" r:id="Rad3a987a7ad84cbf"/>
    <p:sldId xmlns:r="http://schemas.openxmlformats.org/officeDocument/2006/relationships" id="261" r:id="Ra832b9c01e8e4be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39f2c3a5f04111" /><Relationship Type="http://schemas.openxmlformats.org/officeDocument/2006/relationships/slideMaster" Target="/ppt/slideMasters/slideMaster1.xml" Id="Rad0a6e01ecce4728" /><Relationship Type="http://schemas.openxmlformats.org/officeDocument/2006/relationships/notesMaster" Target="/ppt/notesMasters/notesMaster1.xml" Id="R2fb74a2e25154b1e" /><Relationship Type="http://schemas.openxmlformats.org/officeDocument/2006/relationships/presProps" Target="/ppt/presProps.xml" Id="R70c53f1c736b46d2" /><Relationship Type="http://schemas.openxmlformats.org/officeDocument/2006/relationships/tableStyles" Target="/ppt/tableStyles.xml" Id="R257ef7ad44704278" /><Relationship Type="http://schemas.openxmlformats.org/officeDocument/2006/relationships/slide" Target="/ppt/slides/slide1.xml" Id="Rd4fde6f1715043d7" /><Relationship Type="http://schemas.openxmlformats.org/officeDocument/2006/relationships/slide" Target="/ppt/slides/slide2.xml" Id="Rf7f8ed418ead4974" /><Relationship Type="http://schemas.openxmlformats.org/officeDocument/2006/relationships/slide" Target="/ppt/slides/slide3.xml" Id="Rd7a3b6d4146542b4" /><Relationship Type="http://schemas.openxmlformats.org/officeDocument/2006/relationships/slide" Target="/ppt/slides/slide4.xml" Id="Rb1564b72ecf04e72" /><Relationship Type="http://schemas.openxmlformats.org/officeDocument/2006/relationships/slide" Target="/ppt/slides/slide5.xml" Id="Rad3a987a7ad84cbf" /><Relationship Type="http://schemas.openxmlformats.org/officeDocument/2006/relationships/slide" Target="/ppt/slides/slide6.xml" Id="Ra832b9c01e8e4b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af76e251d4e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09e080e82b421d" /><Relationship Type="http://schemas.openxmlformats.org/officeDocument/2006/relationships/notesMaster" Target="/ppt/notesMasters/notesMaster1.xml" Id="R17759230dcb84d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8311a19b6e4d9f" /><Relationship Type="http://schemas.openxmlformats.org/officeDocument/2006/relationships/notesMaster" Target="/ppt/notesMasters/notesMaster1.xml" Id="Rf962d8fb38f74e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0a781aba4e4d3e" /><Relationship Type="http://schemas.openxmlformats.org/officeDocument/2006/relationships/notesMaster" Target="/ppt/notesMasters/notesMaster1.xml" Id="R3ae4bb0215fd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ec8b4118b54063" /><Relationship Type="http://schemas.openxmlformats.org/officeDocument/2006/relationships/notesMaster" Target="/ppt/notesMasters/notesMaster1.xml" Id="R42808b4ddd504b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7e1b84e61a4f6c" /><Relationship Type="http://schemas.openxmlformats.org/officeDocument/2006/relationships/notesMaster" Target="/ppt/notesMasters/notesMaster1.xml" Id="Rb235296cbac0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bbb693f01e4da8" /><Relationship Type="http://schemas.openxmlformats.org/officeDocument/2006/relationships/notesMaster" Target="/ppt/notesMasters/notesMaster1.xml" Id="Rc0ecc1db302d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Фоновое изображение: пользовательский визуальный ресурс проекта. Данные и методика: README и docs/RESEARCH.md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ESA Sentinel-2 L2A через Earth Search STAC; Open-Meteo Historical/ERA5; OpenStreetMap.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Формулы и ограничения: docs/RESEARCH.md. ESA Sentinel-2 L2A documentation: https://documentation.dataspace.copernicus.eu/APIs/SentinelHub/Data/S2L2A.html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График иллюстрирует метод. Модель: HistGradientBoostingRegressor поверх интерполяции. Валидация: искусственно скрытые известные точки, holdout AOI и сезон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Тестовый файл организаторов: test_features (1).csv. Проверка: 49 190 строк, 2 323 synthetic gap, 0 дублей ключа и 0 NaN в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verification: gunicorn, nginx and worker active; /api/health returns status ok. HTTPS issue is DNS-authoritative and is explicitly disclosed.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52e4bb623e44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3fa1991b5433e" /><Relationship Type="http://schemas.openxmlformats.org/officeDocument/2006/relationships/slideLayout" Target="/ppt/slideLayouts/slideLayout1.xml" Id="R2944dfad44b7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44dfad44b7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5e5edaacb4b3f" /><Relationship Type="http://schemas.openxmlformats.org/officeDocument/2006/relationships/image" Target="/ppt/media/image.png" Id="Rb1b6b85dbfa34a5b" /><Relationship Type="http://schemas.openxmlformats.org/officeDocument/2006/relationships/notesSlide" Target="/ppt/notesSlides/notesSlide1.xml" Id="R64cec3a21ff949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1a0b246afc484e" /><Relationship Type="http://schemas.openxmlformats.org/officeDocument/2006/relationships/notesSlide" Target="/ppt/notesSlides/notesSlide2.xml" Id="Reb1e97b7e9124d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3b85729584f0e" /><Relationship Type="http://schemas.openxmlformats.org/officeDocument/2006/relationships/notesSlide" Target="/ppt/notesSlides/notesSlide3.xml" Id="R2d4b2f31727541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7aaecfc534b10" /><Relationship Type="http://schemas.openxmlformats.org/officeDocument/2006/relationships/chart" Target="/ppt/slides/charts/chart1.xml" Id="R59980afdd1bd4f09" /><Relationship Type="http://schemas.openxmlformats.org/officeDocument/2006/relationships/notesSlide" Target="/ppt/notesSlides/notesSlide4.xml" Id="R69b56bff48fc4e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ab914cfec4640" /><Relationship Type="http://schemas.openxmlformats.org/officeDocument/2006/relationships/chart" Target="/ppt/slides/charts/chart2.xml" Id="R9f0f900ea8ea4b74" /><Relationship Type="http://schemas.openxmlformats.org/officeDocument/2006/relationships/notesSlide" Target="/ppt/notesSlides/notesSlide5.xml" Id="Rc9a9c92ce0a745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7a34b872c49e2" /><Relationship Type="http://schemas.openxmlformats.org/officeDocument/2006/relationships/notesSlide" Target="/ppt/notesSlides/notesSlide6.xml" Id="R52cc12a338644ce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Наблюдение</c:v>
          </c:tx>
          <c:spPr>
            <a:solidFill xmlns:a="http://schemas.openxmlformats.org/drawingml/2006/main">
              <a:srgbClr val="74D6B5"/>
            </a:solidFill>
          </c:spPr>
          <c:marker>
            <c:symbol val="none"/>
          </c:marker>
          <c:cat>
            <c:strRef>
              <c:f>'Chart Data'!$A$2:$A$6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сентябрь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0.42</c:v>
                </c:pt>
                <c:pt idx="1">
                  <c:v>0.58</c:v>
                </c:pt>
                <c:pt idx="2">
                  <c:v>0.71</c:v>
                </c:pt>
                <c:pt idx="3">
                  <c:v>0.65</c:v>
                </c:pt>
                <c:pt idx="4">
                  <c:v>0.49</c:v>
                </c:pt>
              </c:numCache>
            </c:numRef>
          </c:val>
          <c:smooth val="1"/>
        </c:ser>
        <c:ser>
          <c:idx val="1"/>
          <c:order val="1"/>
          <c:tx>
            <c:v>Прогноз пропуска</c:v>
          </c:tx>
          <c:spPr>
            <a:solidFill xmlns:a="http://schemas.openxmlformats.org/drawingml/2006/main">
              <a:srgbClr val="F5B56B"/>
            </a:solidFill>
          </c:spPr>
          <c:marker>
            <c:symbol val="none"/>
          </c:marker>
          <c:cat>
            <c:strRef>
              <c:f>'Chart Data'!$C$2:$C$6</c:f>
              <c:strCache>
                <c:ptCount val="5"/>
                <c:pt idx="0">
                  <c:v>май</c:v>
                </c:pt>
                <c:pt idx="1">
                  <c:v>июнь</c:v>
                </c:pt>
                <c:pt idx="2">
                  <c:v>июль</c:v>
                </c:pt>
                <c:pt idx="3">
                  <c:v>август</c:v>
                </c:pt>
                <c:pt idx="4">
                  <c:v>сентябрь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0</c:v>
                </c:pt>
                <c:pt idx="1">
                  <c:v>0.56</c:v>
                </c:pt>
                <c:pt idx="2">
                  <c:v>0</c:v>
                </c:pt>
                <c:pt idx="3">
                  <c:v>0.64</c:v>
                </c:pt>
                <c:pt idx="4">
                  <c:v>0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ptos"/>
              <a:ea typeface="Aptos"/>
              <a:cs typeface="Aptos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Количество</c:v>
          </c:tx>
          <c:spPr>
            <a:solidFill xmlns:a="http://schemas.openxmlformats.org/drawingml/2006/main">
              <a:srgbClr val="74D6B5"/>
            </a:solidFill>
          </c:spPr>
          <c:cat>
            <c:strRef>
              <c:f>'Chart Data'!$A$2:$A$5</c:f>
              <c:strCache>
                <c:ptCount val="4"/>
                <c:pt idx="0">
                  <c:v>Строки входа</c:v>
                </c:pt>
                <c:pt idx="1">
                  <c:v>Контрольные пропуски</c:v>
                </c:pt>
                <c:pt idx="2">
                  <c:v>Дубли</c:v>
                </c:pt>
                <c:pt idx="3">
                  <c:v>NaN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49190</c:v>
                </c:pt>
                <c:pt idx="1">
                  <c:v>2323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6b85dbfa34a5b"/>
          <a:srcRect xmlns:a="http://schemas.openxmlformats.org/drawingml/2006/main" l="6181" t="0" r="61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D1912-F279-4C99-9791-84051F67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715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96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FLORAMA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5DB1E-A79D-4847-9397-B642903B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590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Мониторинг состояния сельхозугодий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 Sentinel‑2, метеоданным и временным рядам NDVI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A56B9-5536-48A6-95F9-0C8E7E68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D6B5"/>
                </a:solidFill>
                <a:latin typeface="Aptos"/>
                <a:ea typeface="Aptos"/>
                <a:cs typeface="Aptos"/>
              </a:rPr>
              <a:t>Hackathon demo · production MVP</a:t>
            </a:r>
          </a:p>
        </p:txBody>
      </p:sp>
    </p:spTree>
    <p:extLst>
      <p:ext uri="{BB962C8B-B14F-4D97-AF65-F5344CB8AC3E}">
        <p14:creationId xmlns:p14="http://schemas.microsoft.com/office/powerpoint/2010/main" val="7813842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16F8E-51EB-4E8D-AE49-843D313B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Задача и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2ABC2-EA58-4E70-BCC2-74541AFA1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Пользователь задаёт контур поля, сервер возвращает воспроизводимый ряд наблюдений и предупреждений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B27CF-9B71-4E7C-B955-A02F9E6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Контур участка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1643B-839B-4FB1-AECD-4D82B058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2714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OSM-поиск, GeoJSON, ручная геометрия. Площадь считает сервер.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4DF2B-5494-4763-B4FD-A8B5026C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05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Реальные наблюдения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931CB-41B5-4C6E-AD53-BCD0E73C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193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Sentinel‑2 L2A, SCL-маска, NIR и SWIR. Без подмены данных при ошибке источника.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DE108-A30E-4183-9759-2325D26E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050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Понятный риск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8DF88-3614-4298-BF44-531A93C6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76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NDVI/NDRE, влажность, сезонная норма и метеоархив в одном отчёте.</a:t>
            </a:r>
          </a:p>
        </p:txBody>
      </p:sp>
    </p:spTree>
    <p:extLst>
      <p:ext uri="{BB962C8B-B14F-4D97-AF65-F5344CB8AC3E}">
        <p14:creationId xmlns:p14="http://schemas.microsoft.com/office/powerpoint/2010/main" val="404134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9A70F-620F-4D88-9E54-A5887A89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Спектральная логика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9328F-59DA-4C7B-8F2C-B41951E5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Листва и стресс оцениваются по отражению в ближнем и коротковолновом ИК диапазоне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5B786E-AF33-4D99-A0FC-EAC3520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B08 NIR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8C29E-301C-4C27-9F8E-C09EADC8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Сильное отражение здоровой листовой массы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2EB6B-713E-489B-BA51-AE3C16F6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8478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B04 Red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8A879-8EE6-421B-99BD-5123835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669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Поглощение хлорофиллом для NDVI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24068-2199-4407-9744-D420308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B11/B12 SWIR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D0123-7B27-4CA6-A1DC-343BEF33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276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Влага кроны и открытая сухая поверхность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C0E62-22E2-41D8-A4B3-332461BA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478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B56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5B56B"/>
                </a:solidFill>
                <a:latin typeface="Aptos"/>
                <a:ea typeface="Aptos"/>
                <a:cs typeface="Aptos"/>
              </a:rPr>
              <a:t>SCL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6EEFA-18D1-4E91-8507-AB0665D3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2669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Отсекает облака и тени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867A-2DA3-4467-A983-C034DA41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NDVI = (B08 − B04) / (B08 + B04)     NDMI = (B08 − B11) / (B08 + B11)     NDRE = (B8A − B05) / (B8A + B05)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AE695-D9AE-4BF4-BD92-37291192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Вывод о заболевании остаётся скрининговым сигналом, а почва по ИК — индикатором BSI/SWIR, не лабораторным анализом.</a:t>
            </a:r>
          </a:p>
        </p:txBody>
      </p:sp>
    </p:spTree>
    <p:extLst>
      <p:ext uri="{BB962C8B-B14F-4D97-AF65-F5344CB8AC3E}">
        <p14:creationId xmlns:p14="http://schemas.microsoft.com/office/powerpoint/2010/main" val="15432012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CF5B1-A3DF-4A13-A4ED-26F6F1C3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Восстановление пропусков NDVI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7E53A-EDED-4F55-89C4-A8BFB10A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Модель сохраняет сезонность каждого участка и не использует скрытый target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42950" y="169545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980afdd1bd4f09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E17DC-FD35-4694-880D-40BA4388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1. Соседние даты одного AOI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A1E03-F261-4765-A97A-AFF3ACDE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Линейная или PCHIP-интерполяция как базовая оценка.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CE4F5-B08F-428D-882B-64149CB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99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2. Сезон и похожие участки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3EB6D-7BD2-4483-B840-94B9235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814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Градиентный бустинг корректирует остаток по видимым данным.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A818A-2A4B-4E42-9464-A00CA054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672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3. Контроль формата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35D06-3CBC-4485-A13F-306D9F85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38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Только synthetic gap, без дублей и NaN.</a:t>
            </a:r>
          </a:p>
        </p:txBody>
      </p:sp>
    </p:spTree>
    <p:extLst>
      <p:ext uri="{BB962C8B-B14F-4D97-AF65-F5344CB8AC3E}">
        <p14:creationId xmlns:p14="http://schemas.microsoft.com/office/powerpoint/2010/main" val="16497513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A38BA-5BFE-4561-84BC-AC2E20EA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Проверка на файле организаторов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B27CE-5ED3-43A4-9CF5-8E1406A6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Результат сформирован в контракте submission.csv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09625" y="1762125"/>
          <a:ext xmlns:a="http://schemas.openxmlformats.org/drawingml/2006/main" cx="5476875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0f900ea8ea4b7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A9CE4-0370-4E3E-A4F8-3111CE1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288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2 323 прогнозов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F0D86-5801-435D-9B66-B29B512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Диапазон NDVI: 0.056782–0.898542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303AF-36B7-45EA-B9F2-129177B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Колонки: anon_polygon_id, date, primary_ndvi_pred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0D4A5-756F-4E24-9011-4261D2ED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Итоговый файл создан локально и готов к загрузке организаторам.</a:t>
            </a:r>
          </a:p>
        </p:txBody>
      </p:sp>
    </p:spTree>
    <p:extLst>
      <p:ext uri="{BB962C8B-B14F-4D97-AF65-F5344CB8AC3E}">
        <p14:creationId xmlns:p14="http://schemas.microsoft.com/office/powerpoint/2010/main" val="1098141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A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92C5C-797C-45C0-8862-6DCFB14F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Production-схема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A1A4E-272D-48A0-848D-90109FDC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DC5B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DC5BD"/>
                </a:solidFill>
                <a:latin typeface="Aptos"/>
                <a:ea typeface="Aptos"/>
                <a:cs typeface="Aptos"/>
              </a:rPr>
              <a:t>Обработка происходит на VPS, фронтенд получает только готовые данные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9E70A-2D3F-457C-92DE-221B538F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43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Веб-клиент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19C9BA-41CB-43A4-8518-84EBBB42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Вход по коду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Карта OSM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Отчёт поля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C60E3-AE96-45BC-9762-4751A2925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API + SQLite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245A1-C0AB-400E-AD49-4BFE45AE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Проекты и контуры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Очередь задач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Логи request-id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7D44E-95DB-497E-9FD6-8FF4D175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431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4D6B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4D6B5"/>
                </a:solidFill>
                <a:latin typeface="Aptos"/>
                <a:ea typeface="Aptos"/>
                <a:cs typeface="Aptos"/>
              </a:rPr>
              <a:t>Worker на VPS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835925-E5EB-4073-83D7-C725EEB3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765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STAC Sentinel-2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ERA5 weather</a:t>
            </a:r>
          </a:p>
          <a:p xmlns:a="http://schemas.openxmlformats.org/drawingml/2006/main">
            <a:pPr>
              <a:defRPr sz="1500" b="0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9F4EF"/>
                </a:solidFill>
                <a:latin typeface="Aptos"/>
                <a:ea typeface="Aptos"/>
                <a:cs typeface="Aptos"/>
              </a:rPr>
              <a:t>ML и кэш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744AF-BD96-42C8-A1E0-2D5C8742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F4E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E9F4EF"/>
                </a:solidFill>
                <a:latin typeface="Aptos"/>
                <a:ea typeface="Aptos"/>
                <a:cs typeface="Aptos"/>
              </a:rPr>
              <a:t>Проверено: 12 unit/API tests passed; live health endpoint отвечает 200; worker active.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3339E8-AC50-4B0C-B37E-D67926A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530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292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5B5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5B56B"/>
                </a:solidFill>
                <a:latin typeface="Aptos"/>
                <a:ea typeface="Aptos"/>
                <a:cs typeface="Aptos"/>
              </a:rPr>
              <a:t>Ограничение перед финальным HTTPS: Let’s Encrypt видит SERVFAIL/timeout на authoritative DNS crewloom.ru. Нужна проверка DNS у регистратора.</a:t>
            </a:r>
          </a:p>
        </p:txBody>
      </p:sp>
    </p:spTree>
    <p:extLst>
      <p:ext uri="{BB962C8B-B14F-4D97-AF65-F5344CB8AC3E}">
        <p14:creationId xmlns:p14="http://schemas.microsoft.com/office/powerpoint/2010/main" val="785261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2026-09-05T10:20:02.5310000Z</dcterms:created>
  <dcterms:modified xsi:type="dcterms:W3CDTF">2026-09-05T10:20:02.5310000Z</dcterms:modified>
</coreProperties>
</file>